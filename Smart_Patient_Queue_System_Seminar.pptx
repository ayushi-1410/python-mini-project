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252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6152" y="146304"/>
            <a:ext cx="9756648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t/logo-00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16152" y="146304"/>
            <a:ext cx="1472184" cy="1216152"/>
          </a:xfrm>
          <a:prstGeom prst="rect">
            <a:avLst/>
          </a:prstGeom>
        </p:spPr>
      </p:pic>
      <p:pic>
        <p:nvPicPr>
          <p:cNvPr id="4" name="Image 1" descr="/home/claude/t/logo-002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91472" y="146304"/>
            <a:ext cx="1481328" cy="121615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743200" y="146304"/>
            <a:ext cx="66751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D. PATEL INSTITUTE OF TECHNOLOGY</a:t>
            </a:r>
            <a:endParaRPr lang="en-US" sz="24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INFORMATION TECHNOLOGY</a:t>
            </a:r>
            <a:endParaRPr lang="en-US" sz="24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21488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Patient </a:t>
            </a:r>
            <a:r>
              <a:rPr lang="en-US" sz="4400" b="1" dirty="0">
                <a:solidFill>
                  <a:srgbClr val="E9B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System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3657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prioritization for hospital staff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51663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Savani Ayushi (12402080601014)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: IT-A (Sem 5)</a:t>
            </a:r>
            <a:endParaRPr lang="en-US" sz="1600" dirty="0"/>
          </a:p>
        </p:txBody>
      </p:sp>
      <p:pic>
        <p:nvPicPr>
          <p:cNvPr id="9" name="Image 2" descr="/home/claude/t/shots/s1_1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49440" y="2130552"/>
            <a:ext cx="5239512" cy="4727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queues slow hospitals down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7452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204597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874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unorganized queues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974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wait in the order they arrive, with no clear system.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800600" y="160020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74920" y="187452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370" y="204597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943600" y="1874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Emergencies hard to spot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5074920" y="26974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cases are not identified quickly among the crowd.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40080" y="384048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41148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" y="428625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4114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kept by hand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914400" y="49377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details on paper or memory get lost or mixed up.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800600" y="384048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074920" y="41148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6370" y="428625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943600" y="4114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find information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5074920" y="49377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one patient's details takes too much time.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9098280" y="1600200"/>
            <a:ext cx="2468880" cy="4251960"/>
          </a:xfrm>
          <a:prstGeom prst="roundRect">
            <a:avLst>
              <a:gd name="adj" fmla="val 3704"/>
            </a:avLst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932688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B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PROBLEM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9326880" y="228600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place to register, prioritize and track patients.</a:t>
            </a:r>
            <a:endParaRPr lang="en-US" sz="2100" dirty="0"/>
          </a:p>
        </p:txBody>
      </p:sp>
      <p:sp>
        <p:nvSpPr>
          <p:cNvPr id="26" name="Text 20"/>
          <p:cNvSpPr txBox="1"/>
          <p:nvPr/>
        </p:nvSpPr>
        <p:spPr>
          <a:xfrm>
            <a:off x="9326880" y="4846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dashboard for staff.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staff dashboard for the whole queue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9270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17320" y="173736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542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926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sign in securely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5768" y="1920240"/>
            <a:ext cx="182880" cy="1828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520440" y="173736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92024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880360" y="2542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900" dirty="0"/>
          </a:p>
        </p:txBody>
      </p:sp>
      <p:sp>
        <p:nvSpPr>
          <p:cNvPr id="12" name="Text 7"/>
          <p:cNvSpPr txBox="1"/>
          <p:nvPr/>
        </p:nvSpPr>
        <p:spPr>
          <a:xfrm>
            <a:off x="2880360" y="2926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patient details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920240"/>
            <a:ext cx="182880" cy="18288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623560" y="173736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1920240"/>
            <a:ext cx="365760" cy="36576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983480" y="2542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900" dirty="0"/>
          </a:p>
        </p:txBody>
      </p:sp>
      <p:sp>
        <p:nvSpPr>
          <p:cNvPr id="17" name="Text 10"/>
          <p:cNvSpPr txBox="1"/>
          <p:nvPr/>
        </p:nvSpPr>
        <p:spPr>
          <a:xfrm>
            <a:off x="4983480" y="2926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Emergency, Urgent, Normal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920240"/>
            <a:ext cx="182880" cy="18288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726680" y="173736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1920240"/>
            <a:ext cx="365760" cy="36576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7086600" y="2542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900" dirty="0"/>
          </a:p>
        </p:txBody>
      </p:sp>
      <p:sp>
        <p:nvSpPr>
          <p:cNvPr id="22" name="Text 13"/>
          <p:cNvSpPr txBox="1"/>
          <p:nvPr/>
        </p:nvSpPr>
        <p:spPr>
          <a:xfrm>
            <a:off x="7086600" y="2926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queue number</a:t>
            </a:r>
            <a:endParaRPr lang="en-US" sz="14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128" y="1920240"/>
            <a:ext cx="182880" cy="18288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829800" y="173736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680" y="1920240"/>
            <a:ext cx="365760" cy="36576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9189720" y="2542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900" dirty="0"/>
          </a:p>
        </p:txBody>
      </p:sp>
      <p:sp>
        <p:nvSpPr>
          <p:cNvPr id="27" name="Text 16"/>
          <p:cNvSpPr txBox="1"/>
          <p:nvPr/>
        </p:nvSpPr>
        <p:spPr>
          <a:xfrm>
            <a:off x="9189720" y="2926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consultation status</a:t>
            </a:r>
            <a:endParaRPr lang="en-US" sz="1400" dirty="0"/>
          </a:p>
        </p:txBody>
      </p:sp>
      <p:sp>
        <p:nvSpPr>
          <p:cNvPr id="28" name="Text 17"/>
          <p:cNvSpPr txBox="1"/>
          <p:nvPr/>
        </p:nvSpPr>
        <p:spPr>
          <a:xfrm>
            <a:off x="64008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29" name="Shape 18"/>
          <p:cNvSpPr/>
          <p:nvPr/>
        </p:nvSpPr>
        <p:spPr>
          <a:xfrm>
            <a:off x="640080" y="457200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4754880"/>
            <a:ext cx="310896" cy="310896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822960" y="5166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manual paperwork</a:t>
            </a:r>
            <a:endParaRPr lang="en-US" sz="1400" dirty="0"/>
          </a:p>
        </p:txBody>
      </p:sp>
      <p:sp>
        <p:nvSpPr>
          <p:cNvPr id="32" name="Shape 20"/>
          <p:cNvSpPr/>
          <p:nvPr/>
        </p:nvSpPr>
        <p:spPr>
          <a:xfrm>
            <a:off x="2852928" y="457200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5808" y="4754880"/>
            <a:ext cx="310896" cy="310896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3035808" y="5166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emergencies first</a:t>
            </a:r>
            <a:endParaRPr lang="en-US" sz="1400" dirty="0"/>
          </a:p>
        </p:txBody>
      </p:sp>
      <p:sp>
        <p:nvSpPr>
          <p:cNvPr id="35" name="Shape 22"/>
          <p:cNvSpPr/>
          <p:nvPr/>
        </p:nvSpPr>
        <p:spPr>
          <a:xfrm>
            <a:off x="5065776" y="457200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8656" y="4754880"/>
            <a:ext cx="310896" cy="310896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5248656" y="5166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patient a unique queue number</a:t>
            </a:r>
            <a:endParaRPr lang="en-US" sz="1400" dirty="0"/>
          </a:p>
        </p:txBody>
      </p:sp>
      <p:sp>
        <p:nvSpPr>
          <p:cNvPr id="38" name="Shape 24"/>
          <p:cNvSpPr/>
          <p:nvPr/>
        </p:nvSpPr>
        <p:spPr>
          <a:xfrm>
            <a:off x="7278624" y="457200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1504" y="4754880"/>
            <a:ext cx="310896" cy="310896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7461504" y="5166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 or ID in seconds</a:t>
            </a:r>
            <a:endParaRPr lang="en-US" sz="1400" dirty="0"/>
          </a:p>
        </p:txBody>
      </p:sp>
      <p:sp>
        <p:nvSpPr>
          <p:cNvPr id="41" name="Shape 26"/>
          <p:cNvSpPr/>
          <p:nvPr/>
        </p:nvSpPr>
        <p:spPr>
          <a:xfrm>
            <a:off x="9491472" y="457200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4352" y="4754880"/>
            <a:ext cx="310896" cy="310896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9674352" y="5166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 until completed</a:t>
            </a:r>
            <a:endParaRPr lang="en-US" sz="1400" dirty="0"/>
          </a:p>
        </p:txBody>
      </p:sp>
      <p:sp>
        <p:nvSpPr>
          <p:cNvPr id="44" name="Text 28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different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6060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staff login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926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 and protected pages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83280" y="1554480"/>
            <a:ext cx="26060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11880" y="17830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188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611880" y="2926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age, gender, department, symptoms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554480"/>
            <a:ext cx="26060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55080" y="17830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priority levels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926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Emergency, Urgent, Normal with color badges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869680" y="1554480"/>
            <a:ext cx="26060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098280" y="17830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0" y="19431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9828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queue number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098280" y="2926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number, never repeated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40080" y="384048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68680" y="40690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" y="422910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68680" y="4800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filter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868680" y="52120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one department's queue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297680" y="384048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526280" y="40690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300" y="422910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526280" y="4800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4526280" y="52120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name or patient ID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7955280" y="384048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183880" y="40690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3900" y="4229100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8183880" y="4800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and dark mode</a:t>
            </a:r>
            <a:endParaRPr lang="en-US" sz="1800" dirty="0"/>
          </a:p>
        </p:txBody>
      </p:sp>
      <p:sp>
        <p:nvSpPr>
          <p:cNvPr id="37" name="Text 28"/>
          <p:cNvSpPr txBox="1"/>
          <p:nvPr/>
        </p:nvSpPr>
        <p:spPr>
          <a:xfrm>
            <a:off x="8183880" y="52120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for any shift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priority queue works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ORDER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918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Aarav Mehta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09:08 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208483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CEFC8"/>
          </a:solidFill>
          <a:ln w="12700">
            <a:solidFill>
              <a:srgbClr val="FCEF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20848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32918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 Joshi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09:31 AM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299923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BE3E3"/>
          </a:solidFill>
          <a:ln w="12700">
            <a:solidFill>
              <a:srgbClr val="FBE3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29992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32918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Vivaan Trivedi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09:58 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0" y="391363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DDF1E3"/>
          </a:solidFill>
          <a:ln w="12700">
            <a:solidFill>
              <a:srgbClr val="DDF1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43200" y="39136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32918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Imran Vora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074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 AM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0" y="482803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CEFC8"/>
          </a:solidFill>
          <a:ln w="12700">
            <a:solidFill>
              <a:srgbClr val="FCEFC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43200" y="48280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3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383280"/>
            <a:ext cx="411480" cy="41148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470916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ORDER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09160" y="1874520"/>
            <a:ext cx="32918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489204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 Joshi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89204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09:31 AM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812280" y="208483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BE3E3"/>
          </a:solidFill>
          <a:ln w="12700">
            <a:solidFill>
              <a:srgbClr val="FBE3E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12280" y="20848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709160" y="2788920"/>
            <a:ext cx="32918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489204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Aarav Mehta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489204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09:08 AM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812280" y="299923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CEFC8"/>
          </a:solidFill>
          <a:ln w="12700">
            <a:solidFill>
              <a:srgbClr val="FCEFC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812280" y="29992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709160" y="3703320"/>
            <a:ext cx="32918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489204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Imran Vora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489204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 AM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812280" y="391363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CEFC8"/>
          </a:solidFill>
          <a:ln w="12700">
            <a:solidFill>
              <a:srgbClr val="FCEFC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812280" y="39136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4709160" y="4617720"/>
            <a:ext cx="32918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489204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Vivaan Trivedi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4892040" y="5074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09:58 AM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812280" y="482803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DDF1E3"/>
          </a:solidFill>
          <a:ln w="12700">
            <a:solidFill>
              <a:srgbClr val="DDF1E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812280" y="48280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8321040" y="1463040"/>
            <a:ext cx="3246120" cy="2651760"/>
          </a:xfrm>
          <a:prstGeom prst="roundRect">
            <a:avLst>
              <a:gd name="adj" fmla="val 3448"/>
            </a:avLst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50392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B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ORDER BY (simplified)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8503920" y="19659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CASE priority_level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'Emergency' THEN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'Urgent' THEN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registered_at ASC,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 ASC;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8321040" y="4343400"/>
            <a:ext cx="32461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7"/>
          <p:cNvSpPr txBox="1"/>
          <p:nvPr/>
        </p:nvSpPr>
        <p:spPr>
          <a:xfrm>
            <a:off x="8503920" y="4434840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 arrived later than Aarav but is called first, because Emergency outranks Urgent. Equal priorities go in arrival order.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640080" y="58521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is chosen by staff. The system organizes the queue; it does not diagnose patients.</a:t>
            </a:r>
            <a:endParaRPr lang="en-US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architecture: simple and secure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2011680" cy="23317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98448" y="1828800"/>
            <a:ext cx="694944" cy="694944"/>
          </a:xfrm>
          <a:prstGeom prst="roundRect">
            <a:avLst>
              <a:gd name="adj" fmla="val 18421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184" y="2002536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staff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any browser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2651760"/>
            <a:ext cx="173736" cy="1737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62072" y="1600200"/>
            <a:ext cx="2011680" cy="23317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520440" y="1828800"/>
            <a:ext cx="694944" cy="694944"/>
          </a:xfrm>
          <a:prstGeom prst="roundRect">
            <a:avLst>
              <a:gd name="adj" fmla="val 18421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176" y="2002536"/>
            <a:ext cx="347472" cy="34747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953512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2953512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51760"/>
            <a:ext cx="173736" cy="17373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084064" y="1600200"/>
            <a:ext cx="2011680" cy="2331720"/>
          </a:xfrm>
          <a:prstGeom prst="roundRect">
            <a:avLst>
              <a:gd name="adj" fmla="val 4545"/>
            </a:avLst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5742432" y="1828800"/>
            <a:ext cx="694944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1956816"/>
            <a:ext cx="438912" cy="43891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175504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5175504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5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sessions, validation</a:t>
            </a:r>
            <a:endParaRPr lang="en-US" sz="14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2651760"/>
            <a:ext cx="173736" cy="173736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306056" y="1600200"/>
            <a:ext cx="2011680" cy="23317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7964424" y="1828800"/>
            <a:ext cx="694944" cy="694944"/>
          </a:xfrm>
          <a:prstGeom prst="roundRect">
            <a:avLst>
              <a:gd name="adj" fmla="val 18421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2002536"/>
            <a:ext cx="347472" cy="34747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397496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</a:t>
            </a:r>
            <a:endParaRPr lang="en-US" sz="1700" dirty="0"/>
          </a:p>
        </p:txBody>
      </p:sp>
      <p:sp>
        <p:nvSpPr>
          <p:cNvPr id="25" name="Text 16"/>
          <p:cNvSpPr txBox="1"/>
          <p:nvPr/>
        </p:nvSpPr>
        <p:spPr>
          <a:xfrm>
            <a:off x="7397496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HTML pages</a:t>
            </a:r>
            <a:endParaRPr lang="en-US" sz="14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2651760"/>
            <a:ext cx="173736" cy="173736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9528048" y="1600200"/>
            <a:ext cx="2011680" cy="23317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18"/>
          <p:cNvSpPr/>
          <p:nvPr/>
        </p:nvSpPr>
        <p:spPr>
          <a:xfrm>
            <a:off x="10186416" y="1828800"/>
            <a:ext cx="694944" cy="694944"/>
          </a:xfrm>
          <a:prstGeom prst="roundRect">
            <a:avLst>
              <a:gd name="adj" fmla="val 18421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0152" y="2002536"/>
            <a:ext cx="347472" cy="347472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9619488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700" dirty="0"/>
          </a:p>
        </p:txBody>
      </p:sp>
      <p:sp>
        <p:nvSpPr>
          <p:cNvPr id="31" name="Text 20"/>
          <p:cNvSpPr txBox="1"/>
          <p:nvPr/>
        </p:nvSpPr>
        <p:spPr>
          <a:xfrm>
            <a:off x="9619488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staff_accounts</a:t>
            </a:r>
            <a:endParaRPr lang="en-US" sz="1400" dirty="0"/>
          </a:p>
        </p:txBody>
      </p:sp>
      <p:sp>
        <p:nvSpPr>
          <p:cNvPr id="32" name="Shape 21"/>
          <p:cNvSpPr/>
          <p:nvPr/>
        </p:nvSpPr>
        <p:spPr>
          <a:xfrm>
            <a:off x="640080" y="43434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2"/>
          <p:cNvSpPr/>
          <p:nvPr/>
        </p:nvSpPr>
        <p:spPr>
          <a:xfrm>
            <a:off x="868680" y="452628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270" y="4674870"/>
            <a:ext cx="297180" cy="29718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600200" y="4526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</a:t>
            </a:r>
            <a:endParaRPr lang="en-US" sz="1800" dirty="0"/>
          </a:p>
        </p:txBody>
      </p:sp>
      <p:sp>
        <p:nvSpPr>
          <p:cNvPr id="36" name="Text 24"/>
          <p:cNvSpPr txBox="1"/>
          <p:nvPr/>
        </p:nvSpPr>
        <p:spPr>
          <a:xfrm>
            <a:off x="868680" y="5257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 + MySQL on a normal PC</a:t>
            </a:r>
            <a:endParaRPr lang="en-US" sz="1400" dirty="0"/>
          </a:p>
        </p:txBody>
      </p:sp>
      <p:sp>
        <p:nvSpPr>
          <p:cNvPr id="37" name="Shape 25"/>
          <p:cNvSpPr/>
          <p:nvPr/>
        </p:nvSpPr>
        <p:spPr>
          <a:xfrm>
            <a:off x="4343400" y="43434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26"/>
          <p:cNvSpPr/>
          <p:nvPr/>
        </p:nvSpPr>
        <p:spPr>
          <a:xfrm>
            <a:off x="4572000" y="452628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0590" y="4674870"/>
            <a:ext cx="297180" cy="297180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5303520" y="4526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800" dirty="0"/>
          </a:p>
        </p:txBody>
      </p:sp>
      <p:sp>
        <p:nvSpPr>
          <p:cNvPr id="41" name="Text 28"/>
          <p:cNvSpPr txBox="1"/>
          <p:nvPr/>
        </p:nvSpPr>
        <p:spPr>
          <a:xfrm>
            <a:off x="4572000" y="5257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HTML, CSS and JS on the front end</a:t>
            </a:r>
            <a:endParaRPr lang="en-US" sz="1400" dirty="0"/>
          </a:p>
        </p:txBody>
      </p:sp>
      <p:sp>
        <p:nvSpPr>
          <p:cNvPr id="42" name="Shape 29"/>
          <p:cNvSpPr/>
          <p:nvPr/>
        </p:nvSpPr>
        <p:spPr>
          <a:xfrm>
            <a:off x="8046720" y="43434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30"/>
          <p:cNvSpPr/>
          <p:nvPr/>
        </p:nvSpPr>
        <p:spPr>
          <a:xfrm>
            <a:off x="8275320" y="452628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FF3CF"/>
          </a:solidFill>
          <a:ln w="12700">
            <a:solidFill>
              <a:srgbClr val="F1DFA0"/>
            </a:solidFill>
            <a:prstDash val="solid"/>
          </a:ln>
        </p:spPr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3910" y="4674870"/>
            <a:ext cx="297180" cy="297180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9006840" y="4526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data access</a:t>
            </a:r>
            <a:endParaRPr lang="en-US" sz="1800" dirty="0"/>
          </a:p>
        </p:txBody>
      </p:sp>
      <p:sp>
        <p:nvSpPr>
          <p:cNvPr id="46" name="Text 32"/>
          <p:cNvSpPr txBox="1"/>
          <p:nvPr/>
        </p:nvSpPr>
        <p:spPr>
          <a:xfrm>
            <a:off x="8275320" y="5257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SQL stops SQL injection</a:t>
            </a:r>
            <a:endParaRPr lang="en-US" sz="1400" dirty="0"/>
          </a:p>
        </p:txBody>
      </p:sp>
      <p:sp>
        <p:nvSpPr>
          <p:cNvPr id="47" name="Text 3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design: two focused tables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76656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572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057400"/>
          <a:ext cx="6309360" cy="372160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BIGINT, auto-increment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patient_name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TINYINT (max 120)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 / contact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VARCHAR(30)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priority_level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ENUM: Emergency, Urgent, 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queue_number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ENUM: Waiting, In Consultation, Completed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registered_at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TIMESTAMP, default now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463040"/>
            <a:ext cx="38862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909560" y="15727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staff_accounts</a:t>
            </a:r>
            <a:endParaRPr lang="en-US" sz="2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0" y="2057400"/>
          <a:ext cx="3429000" cy="1591056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password_hash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680960" y="3931920"/>
            <a:ext cx="3886200" cy="2194560"/>
          </a:xfrm>
          <a:prstGeom prst="roundRect">
            <a:avLst>
              <a:gd name="adj" fmla="val 4167"/>
            </a:avLst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09560" y="4041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B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909560" y="43891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allows only valid priority and status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queue_number is UNIQUE, so it never repeats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on status, priority and time speeds up the queue query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and security</a:t>
            </a:r>
            <a:endParaRPr lang="en-US" sz="3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5394960" cy="43891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A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HTML5, CSS3, JavaScript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A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Flask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A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Jinja2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A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access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A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Connector (parameterized)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A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+ password hashing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A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python-dotenv (.env file)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92240" y="1463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built in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92240" y="2148840"/>
            <a:ext cx="24231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487168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086600" y="22402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052560" y="2148840"/>
            <a:ext cx="24231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248716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646920" y="22402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SQL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92240" y="3291840"/>
            <a:ext cx="24231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630168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086600" y="33832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tokens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9052560" y="3291840"/>
            <a:ext cx="24231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3630168"/>
            <a:ext cx="274320" cy="2743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646920" y="33832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+ server validation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92240" y="4434840"/>
            <a:ext cx="24231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773168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086600" y="45262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required for pages</a:t>
            </a:r>
            <a:endParaRPr lang="en-US" sz="1400" dirty="0"/>
          </a:p>
        </p:txBody>
      </p:sp>
      <p:sp>
        <p:nvSpPr>
          <p:cNvPr id="20" name="Shape 12"/>
          <p:cNvSpPr/>
          <p:nvPr/>
        </p:nvSpPr>
        <p:spPr>
          <a:xfrm>
            <a:off x="9052560" y="4434840"/>
            <a:ext cx="24231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4773168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646920" y="45262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HttpOnly, SameSite cookies</a:t>
            </a:r>
            <a:endParaRPr lang="en-US" sz="1400" dirty="0"/>
          </a:p>
        </p:txBody>
      </p:sp>
      <p:sp>
        <p:nvSpPr>
          <p:cNvPr id="23" name="Text 14"/>
          <p:cNvSpPr txBox="1"/>
          <p:nvPr/>
        </p:nvSpPr>
        <p:spPr>
          <a:xfrm>
            <a:off x="6492240" y="5669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project: do not enter real patient data.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from login to completion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12064" cy="512064"/>
          </a:xfrm>
          <a:prstGeom prst="ellipse">
            <a:avLst/>
          </a:prstGeom>
          <a:solidFill>
            <a:srgbClr val="E9B730"/>
          </a:solidFill>
          <a:ln w="12700">
            <a:solidFill>
              <a:srgbClr val="E9B7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3560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log in with a secure session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13432"/>
            <a:ext cx="512064" cy="512064"/>
          </a:xfrm>
          <a:prstGeom prst="ellipse">
            <a:avLst/>
          </a:prstGeom>
          <a:solidFill>
            <a:srgbClr val="E9B730"/>
          </a:solidFill>
          <a:ln w="12700">
            <a:solidFill>
              <a:srgbClr val="E9B7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13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402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patient with details and priority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118104"/>
            <a:ext cx="512064" cy="512064"/>
          </a:xfrm>
          <a:prstGeom prst="ellipse">
            <a:avLst/>
          </a:prstGeom>
          <a:solidFill>
            <a:srgbClr val="E9B730"/>
          </a:solidFill>
          <a:ln w="12700">
            <a:solidFill>
              <a:srgbClr val="E9B7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18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4495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gets an automatic queue number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922776"/>
            <a:ext cx="512064" cy="512064"/>
          </a:xfrm>
          <a:prstGeom prst="ellipse">
            <a:avLst/>
          </a:prstGeom>
          <a:solidFill>
            <a:srgbClr val="E9B730"/>
          </a:solidFill>
          <a:ln w="12700">
            <a:solidFill>
              <a:srgbClr val="E9B7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922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4962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orders queue: Emergency first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727448"/>
            <a:ext cx="512064" cy="512064"/>
          </a:xfrm>
          <a:prstGeom prst="ellipse">
            <a:avLst/>
          </a:prstGeom>
          <a:solidFill>
            <a:srgbClr val="E9B730"/>
          </a:solidFill>
          <a:ln w="12700">
            <a:solidFill>
              <a:srgbClr val="E9B7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727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6542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or filter by department, open details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532120"/>
            <a:ext cx="512064" cy="512064"/>
          </a:xfrm>
          <a:prstGeom prst="ellipse">
            <a:avLst/>
          </a:prstGeom>
          <a:solidFill>
            <a:srgbClr val="2FA37A"/>
          </a:solidFill>
          <a:ln w="12700">
            <a:solidFill>
              <a:srgbClr val="2FA37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5532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45896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 until Completed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257800" y="1417320"/>
            <a:ext cx="30632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76088" y="1435608"/>
            <a:ext cx="3026664" cy="237744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67528" y="1504188"/>
            <a:ext cx="82296" cy="82296"/>
          </a:xfrm>
          <a:prstGeom prst="ellipse">
            <a:avLst/>
          </a:prstGeom>
          <a:solidFill>
            <a:srgbClr val="E5483D"/>
          </a:solidFill>
          <a:ln w="12700">
            <a:solidFill>
              <a:srgbClr val="E548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95544" y="1504188"/>
            <a:ext cx="82296" cy="82296"/>
          </a:xfrm>
          <a:prstGeom prst="ellipse">
            <a:avLst/>
          </a:prstGeom>
          <a:solidFill>
            <a:srgbClr val="E9B730"/>
          </a:solidFill>
          <a:ln w="12700">
            <a:solidFill>
              <a:srgbClr val="E9B7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3560" y="1504188"/>
            <a:ext cx="82296" cy="82296"/>
          </a:xfrm>
          <a:prstGeom prst="ellipse">
            <a:avLst/>
          </a:prstGeom>
          <a:solidFill>
            <a:srgbClr val="2FA37A"/>
          </a:solidFill>
          <a:ln w="12700">
            <a:solidFill>
              <a:srgbClr val="2FA37A"/>
            </a:solidFill>
            <a:prstDash val="solid"/>
          </a:ln>
        </p:spPr>
      </p:sp>
      <p:pic>
        <p:nvPicPr>
          <p:cNvPr id="26" name="Image 0" descr="/home/claude/t/shots/s8_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0952" y="1746504"/>
            <a:ext cx="2916936" cy="170078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5257800" y="3566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503920" y="1417320"/>
            <a:ext cx="30632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522208" y="1435608"/>
            <a:ext cx="3026664" cy="237744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613648" y="1504188"/>
            <a:ext cx="82296" cy="82296"/>
          </a:xfrm>
          <a:prstGeom prst="ellipse">
            <a:avLst/>
          </a:prstGeom>
          <a:solidFill>
            <a:srgbClr val="E5483D"/>
          </a:solidFill>
          <a:ln w="12700">
            <a:solidFill>
              <a:srgbClr val="E5483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741664" y="1504188"/>
            <a:ext cx="82296" cy="82296"/>
          </a:xfrm>
          <a:prstGeom prst="ellipse">
            <a:avLst/>
          </a:prstGeom>
          <a:solidFill>
            <a:srgbClr val="E9B730"/>
          </a:solidFill>
          <a:ln w="12700">
            <a:solidFill>
              <a:srgbClr val="E9B73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1504188"/>
            <a:ext cx="82296" cy="82296"/>
          </a:xfrm>
          <a:prstGeom prst="ellipse">
            <a:avLst/>
          </a:prstGeom>
          <a:solidFill>
            <a:srgbClr val="2FA37A"/>
          </a:solidFill>
          <a:ln w="12700">
            <a:solidFill>
              <a:srgbClr val="2FA37A"/>
            </a:solidFill>
            <a:prstDash val="solid"/>
          </a:ln>
        </p:spPr>
      </p:sp>
      <p:pic>
        <p:nvPicPr>
          <p:cNvPr id="33" name="Image 1" descr="/home/claude/t/shots/s7_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77072" y="1746504"/>
            <a:ext cx="2916936" cy="1700784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8503920" y="3566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257800" y="4023360"/>
            <a:ext cx="30632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5276088" y="4041648"/>
            <a:ext cx="3026664" cy="237744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367528" y="4110228"/>
            <a:ext cx="82296" cy="82296"/>
          </a:xfrm>
          <a:prstGeom prst="ellipse">
            <a:avLst/>
          </a:prstGeom>
          <a:solidFill>
            <a:srgbClr val="E5483D"/>
          </a:solidFill>
          <a:ln w="12700">
            <a:solidFill>
              <a:srgbClr val="E5483D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495544" y="4110228"/>
            <a:ext cx="82296" cy="82296"/>
          </a:xfrm>
          <a:prstGeom prst="ellipse">
            <a:avLst/>
          </a:prstGeom>
          <a:solidFill>
            <a:srgbClr val="E9B730"/>
          </a:solidFill>
          <a:ln w="12700">
            <a:solidFill>
              <a:srgbClr val="E9B73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23560" y="4110228"/>
            <a:ext cx="82296" cy="82296"/>
          </a:xfrm>
          <a:prstGeom prst="ellipse">
            <a:avLst/>
          </a:prstGeom>
          <a:solidFill>
            <a:srgbClr val="2FA37A"/>
          </a:solidFill>
          <a:ln w="12700">
            <a:solidFill>
              <a:srgbClr val="2FA37A"/>
            </a:solidFill>
            <a:prstDash val="solid"/>
          </a:ln>
        </p:spPr>
      </p:sp>
      <p:pic>
        <p:nvPicPr>
          <p:cNvPr id="40" name="Image 2" descr="/home/claude/t/shots/s10_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30952" y="4352544"/>
            <a:ext cx="2916936" cy="1517904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5257800" y="5989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queue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8503920" y="4023360"/>
            <a:ext cx="30632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8522208" y="4041648"/>
            <a:ext cx="3026664" cy="237744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8613648" y="4110228"/>
            <a:ext cx="82296" cy="82296"/>
          </a:xfrm>
          <a:prstGeom prst="ellipse">
            <a:avLst/>
          </a:prstGeom>
          <a:solidFill>
            <a:srgbClr val="E5483D"/>
          </a:solidFill>
          <a:ln w="12700">
            <a:solidFill>
              <a:srgbClr val="E5483D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8741664" y="4110228"/>
            <a:ext cx="82296" cy="82296"/>
          </a:xfrm>
          <a:prstGeom prst="ellipse">
            <a:avLst/>
          </a:prstGeom>
          <a:solidFill>
            <a:srgbClr val="E9B730"/>
          </a:solidFill>
          <a:ln w="12700">
            <a:solidFill>
              <a:srgbClr val="E9B730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8869680" y="4110228"/>
            <a:ext cx="82296" cy="82296"/>
          </a:xfrm>
          <a:prstGeom prst="ellipse">
            <a:avLst/>
          </a:prstGeom>
          <a:solidFill>
            <a:srgbClr val="2FA37A"/>
          </a:solidFill>
          <a:ln w="12700">
            <a:solidFill>
              <a:srgbClr val="2FA37A"/>
            </a:solidFill>
            <a:prstDash val="solid"/>
          </a:ln>
        </p:spPr>
      </p:sp>
      <p:pic>
        <p:nvPicPr>
          <p:cNvPr id="47" name="Image 3" descr="/home/claude/t/shots/s11_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77072" y="4352544"/>
            <a:ext cx="2916936" cy="1517904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8503920" y="5989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filter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Evaluation &amp; Future Prospects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24325A"/>
          </a:solidFill>
          <a:ln w="12700">
            <a:solidFill>
              <a:srgbClr val="3A4A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45920"/>
            <a:ext cx="566928" cy="566928"/>
          </a:xfrm>
          <a:prstGeom prst="ellipse">
            <a:avLst/>
          </a:prstGeom>
          <a:solidFill>
            <a:srgbClr val="E9B730"/>
          </a:solidFill>
          <a:ln w="12700">
            <a:solidFill>
              <a:srgbClr val="E9B73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801368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459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42316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patient registration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cases stand out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name and ID search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status tracking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work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297680" y="14630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24325A"/>
          </a:solidFill>
          <a:ln w="12700">
            <a:solidFill>
              <a:srgbClr val="3A4A7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26280" y="1645920"/>
            <a:ext cx="566928" cy="566928"/>
          </a:xfrm>
          <a:prstGeom prst="ellipse">
            <a:avLst/>
          </a:prstGeom>
          <a:solidFill>
            <a:srgbClr val="E9B730"/>
          </a:solidFill>
          <a:ln w="12700">
            <a:solidFill>
              <a:srgbClr val="E9B73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80136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57800" y="16459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42316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hospital, demo use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approval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limiting or audit log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notifications yet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7955280" y="14630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24325A"/>
          </a:solidFill>
          <a:ln w="12700">
            <a:solidFill>
              <a:srgbClr val="3A4A7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183880" y="1645920"/>
            <a:ext cx="566928" cy="566928"/>
          </a:xfrm>
          <a:prstGeom prst="ellipse">
            <a:avLst/>
          </a:prstGeom>
          <a:solidFill>
            <a:srgbClr val="E9B730"/>
          </a:solidFill>
          <a:ln w="12700">
            <a:solidFill>
              <a:srgbClr val="E9B73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180136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15400" y="16459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0" y="242316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login and roles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WhatsApp alerts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Waiting-time estimate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and analytics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640080" y="5303520"/>
            <a:ext cx="10927080" cy="868680"/>
          </a:xfrm>
          <a:prstGeom prst="roundRect">
            <a:avLst>
              <a:gd name="adj" fmla="val 10526"/>
            </a:avLst>
          </a:prstGeom>
          <a:solidFill>
            <a:srgbClr val="E9B730"/>
          </a:solidFill>
          <a:ln w="12700">
            <a:solidFill>
              <a:srgbClr val="E9B73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68680" y="530352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1700" dirty="0">
                <a:solidFill>
                  <a:srgbClr val="1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Patient Queue System makes hospital queues faster, clearer and better organized. Thank you!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785</Words>
  <Application>Microsoft Office PowerPoint</Application>
  <PresentationFormat>Widescreen</PresentationFormat>
  <Paragraphs>226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Patient Queue System</dc:title>
  <dc:subject>PptxGenJS Presentation</dc:subject>
  <dc:creator>AAYUSHI</dc:creator>
  <cp:lastModifiedBy>DARSH BALAR</cp:lastModifiedBy>
  <cp:revision>3</cp:revision>
  <dcterms:created xsi:type="dcterms:W3CDTF">2026-10-26T08:02:44Z</dcterms:created>
  <dcterms:modified xsi:type="dcterms:W3CDTF">2026-10-26T14:13:04Z</dcterms:modified>
</cp:coreProperties>
</file>